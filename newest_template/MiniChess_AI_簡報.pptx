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Mini Project 2 · 迷你西洋棋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828800"/>
            <a:ext cx="1060704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MiniChess AI 演算法說明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607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4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從 Negamax 到 PVS 主變例搜尋引擎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251960"/>
            <a:ext cx="2971800" cy="6858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297180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Weak  100%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69080" y="4251960"/>
            <a:ext cx="2971800" cy="6858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69080" y="4251960"/>
            <a:ext cx="297180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Strong  100%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4251960"/>
            <a:ext cx="2971800" cy="685800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4251960"/>
            <a:ext cx="297180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8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Boss 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PVS + 置換表 + 靜止搜尋 + 選擇性深度  |  10 局全勝(2000ms,雙方輪流先手)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整體架構:分層強化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91640"/>
            <a:ext cx="5486400" cy="4206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6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引擎以 </a:t>
            </a:r>
            <a:r>
              <a:rPr sz="16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Negamax + 迭代加深</a:t>
            </a:r>
            <a:r>
              <a:rPr sz="16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 為骨架,</a:t>
            </a:r>
          </a:p>
          <a:p>
            <a:pPr algn="l">
              <a:lnSpc>
                <a:spcPct val="125000"/>
              </a:lnSpc>
              <a:spcAft>
                <a:spcPts val="1600"/>
              </a:spcAft>
            </a:pPr>
            <a:r>
              <a:rPr sz="16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再一層層往上疊加:核心剪枝 → 加速結構 → 選擇性深度 → 評估函數。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每一層都讓搜尋「更快」或「更準」,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最終在相同時間內看得更深、下得更強。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764792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評估函數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157984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子力 · 位置表 · 王安全 · 兵形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24912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843784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選擇性深度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36976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將軍延伸 · LMR · 空著裁剪 · 期望窗口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803904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922776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加速結構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315968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置換表 · 走法排序 · 靜止搜尋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882896"/>
            <a:ext cx="5212080" cy="960120"/>
          </a:xfrm>
          <a:prstGeom prst="roundRect">
            <a:avLst>
              <a:gd name="adj" fmla="val 10000"/>
            </a:avLst>
          </a:prstGeom>
          <a:solidFill>
            <a:srgbClr val="0F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5001768"/>
            <a:ext cx="466344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核心搜尋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394960"/>
            <a:ext cx="46634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Negamax → Alpha-Beta → PVS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CORE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核心搜尋:三個層次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3511296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993392"/>
            <a:ext cx="2322576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Negamax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432304"/>
            <a:ext cx="23225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負極大值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2871215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以「走子方」單一視角統一雙方: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77639"/>
            <a:ext cx="2871215" cy="566928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2871215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onsolas"/>
                <a:ea typeface="Consolas"/>
                <a:cs typeface="Consolas"/>
              </a:rPr>
              <a:t>score = −search(child)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81728"/>
            <a:ext cx="2871215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正分=對我方有利,一條公式處理雙方。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5" y="1691640"/>
            <a:ext cx="3511296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54295" y="1965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85815" y="1993392"/>
            <a:ext cx="2322576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Alpha-Beta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85815" y="2432304"/>
            <a:ext cx="23225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剪枝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5" y="3063240"/>
            <a:ext cx="2871215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用 [α, β] 窗口剪掉對手不會允許的分枝。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54295" y="3977639"/>
            <a:ext cx="2871215" cy="566928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5" y="3977639"/>
            <a:ext cx="2871215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onsolas"/>
                <a:ea typeface="Consolas"/>
                <a:cs typeface="Consolas"/>
              </a:rPr>
              <a:t>score ≥ β → 剪枝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5" y="4681728"/>
            <a:ext cx="2871215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結果不變,相同時間內深度約可翻倍。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1" y="1691640"/>
            <a:ext cx="3511296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39911" y="1965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1432" y="1993392"/>
            <a:ext cx="2322576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1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PVS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432304"/>
            <a:ext cx="2322576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主變例搜尋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1" y="3063240"/>
            <a:ext cx="2871215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第一手用完整窗口建立主變例;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39911" y="3977639"/>
            <a:ext cx="2871215" cy="566928"/>
          </a:xfrm>
          <a:prstGeom prst="roundRect">
            <a:avLst>
              <a:gd name="adj" fmla="val 12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9911" y="3977639"/>
            <a:ext cx="2871215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50" b="1" i="0">
                <a:solidFill>
                  <a:srgbClr val="1E2761"/>
                </a:solidFill>
                <a:latin typeface="Consolas"/>
                <a:ea typeface="Consolas"/>
                <a:cs typeface="Consolas"/>
              </a:rPr>
              <a:t>其餘用零寬窗口快篩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39911" y="4681728"/>
            <a:ext cx="2871215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意外更優時才用完整窗口重搜。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MOVE ORDERING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走法排序:讓剪枝真正有效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9436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883664"/>
            <a:ext cx="457200" cy="457200"/>
          </a:xfrm>
          <a:prstGeom prst="ellipse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19656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置換表走法 (TT move)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176272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先前搜尋算出、此局面的最佳手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59436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843784"/>
            <a:ext cx="457200" cy="457200"/>
          </a:xfrm>
          <a:prstGeom prst="ellipse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779776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吃子走法 — MVV-LVA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136392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吃最大子、用最小子吃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59436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3803904"/>
            <a:ext cx="457200" cy="457200"/>
          </a:xfrm>
          <a:prstGeom prst="ellipse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739896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殺手走法 (Killer)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096512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曾造成 beta cutoff 的安靜走法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72000"/>
            <a:ext cx="594360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7240" y="4764024"/>
            <a:ext cx="457200" cy="457200"/>
          </a:xfrm>
          <a:prstGeom prst="ellipse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00016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其餘安靜走法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5056632"/>
            <a:ext cx="49377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按啟發式排在最後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691640"/>
            <a:ext cx="4846320" cy="3630168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2057400"/>
            <a:ext cx="425196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為什麼重要?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2788920"/>
            <a:ext cx="4251960" cy="2377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好棋先試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更早出現 beta cutoff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</a:p>
          <a:p>
            <a:pPr algn="l"/>
            <a:r>
              <a:rPr sz="18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剪掉更多分枝 → 搜得更深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DEPTH 0 HANDLING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靜止搜尋 與 置換表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2011680"/>
            <a:ext cx="548640" cy="548640"/>
          </a:xfrm>
          <a:prstGeom prst="ellipse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57400"/>
            <a:ext cx="4114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靜止搜尋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487168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Quiescence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63240"/>
            <a:ext cx="470916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葉節點只追「吃子」直到局面安靜才評估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stand-pat 基準 + delta pruning 跳過無望吃子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避免「視界效應」:停在被吃皇后前而誤判佔優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3492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80" y="20116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057400"/>
            <a:ext cx="41148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置換表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487168"/>
            <a:ext cx="41148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Transposition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63240"/>
            <a:ext cx="470916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100 萬筆 Zobrist 雜湊表(增量更新)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45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快取深度、分數、界限與最佳走法以供重用</a:t>
            </a:r>
          </a:p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深度優先替換 + 將死分數正規化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SELECTIVE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選擇性深度:把算力花在刀口上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7" y="1956816"/>
            <a:ext cx="310896" cy="310896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1892808"/>
            <a:ext cx="44805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將軍延伸</a:t>
            </a:r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  Check Extension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47091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讓對方被將軍的著法多搜 1 層,算清強制應對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64592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6248" y="1956816"/>
            <a:ext cx="310896" cy="310896"/>
          </a:xfrm>
          <a:prstGeom prst="ellipse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79" y="1892808"/>
            <a:ext cx="44805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後期走法縮減</a:t>
            </a:r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  LMR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514600"/>
            <a:ext cx="47091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排在後面的安靜走法先搜淺;意外更優才重搜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1188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92277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3858768"/>
            <a:ext cx="44805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空著裁剪</a:t>
            </a:r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  Null-Move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0560"/>
            <a:ext cx="47091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跳一手後仍 ≥ β,代表局勢好到可直接剪枝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611880"/>
            <a:ext cx="534924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56248" y="3922776"/>
            <a:ext cx="310896" cy="310896"/>
          </a:xfrm>
          <a:prstGeom prst="ellipse">
            <a:avLst/>
          </a:prstGeom>
          <a:solidFill>
            <a:srgbClr val="3B5B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79" y="3858768"/>
            <a:ext cx="44805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期望窗口</a:t>
            </a:r>
            <a:r>
              <a:rPr sz="12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  Aspiration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79" y="4480560"/>
            <a:ext cx="470916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用上一層分數附近的窄窗口,提高剪枝率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評估函數:如何為局面打分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分數 = 我方總分 − 對方總分(於安靜局面)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511296" cy="173736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103120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子力 Material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724912"/>
            <a:ext cx="29260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兵20 馬60 象65 車100 后200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4256" y="1828800"/>
            <a:ext cx="3511296" cy="173736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103120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位置表 PST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724912"/>
            <a:ext cx="29260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每子在每格的位置加分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828800"/>
            <a:ext cx="3511296" cy="173736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103120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王接近度 Tropism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24912"/>
            <a:ext cx="29260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子力靠近敵王 → 攻擊壓力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03320"/>
            <a:ext cx="3511296" cy="173736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3977639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通路兵 Passed Pawn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599431"/>
            <a:ext cx="29260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越接近升變,加分越高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256" y="3703320"/>
            <a:ext cx="3511296" cy="173736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3977639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車開放線 Rook File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599431"/>
            <a:ext cx="29260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車在開放/半開放直線加分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9872" y="3703320"/>
            <a:ext cx="3511296" cy="1737360"/>
          </a:xfrm>
          <a:prstGeom prst="roundRect">
            <a:avLst>
              <a:gd name="adj" fmla="val 8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977639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5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兵形 + 機動力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599431"/>
            <a:ext cx="29260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疊兵/孤兵扣分;可走步數越多越好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THE KEY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關鍵修復:把根節點存入置換表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349240" cy="35204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709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問題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754880" cy="2606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時間一到,測試程式直接 kill 引擎,取「最後回報的走法」。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PVS::search 未把根節點存入 TT → 每層用吃子排序重排,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把「會輸的吃子」排第一 → 被中斷時就走出敗著</a:t>
            </a:r>
          </a:p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(開局第 7 手就被將死)。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349240" cy="3520440"/>
          </a:xfrm>
          <a:prstGeom prst="roundRect">
            <a:avLst>
              <a:gd name="adj" fmla="val 8000"/>
            </a:avLst>
          </a:prstGeom>
          <a:solidFill>
            <a:srgbClr val="EA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920240"/>
            <a:ext cx="4709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900" b="1" i="0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解法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468880"/>
            <a:ext cx="4754880" cy="2606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每層搜尋結束時,把根節點最佳走法寫入 TT。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如此每層都先搜、先回報真正的最佳手,</a:t>
            </a:r>
          </a:p>
          <a:p>
            <a:pPr algn="l">
              <a:lnSpc>
                <a:spcPct val="122000"/>
              </a:lnSpc>
              <a:spcAft>
                <a:spcPts val="800"/>
              </a:spcAft>
            </a:pPr>
            <a:r>
              <a:rPr sz="1400" b="0" i="0">
                <a:solidFill>
                  <a:srgbClr val="1A2238"/>
                </a:solidFill>
                <a:latin typeface="Microsoft JhengHei"/>
                <a:ea typeface="Microsoft JhengHei"/>
                <a:cs typeface="Microsoft JhengHei"/>
              </a:rPr>
              <a:t>即使被時間中斷,回報的也是合理走法。</a:t>
            </a:r>
          </a:p>
          <a:p>
            <a:pPr algn="l">
              <a:lnSpc>
                <a:spcPct val="122000"/>
              </a:lnSpc>
            </a:pPr>
            <a:r>
              <a:rPr sz="1400" b="1" i="0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固定深度本來就正確 → 此修正補上「限時」這條路。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349240"/>
            <a:ext cx="11064240" cy="8686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結果:對 Weak 由 </a:t>
            </a:r>
            <a:r>
              <a:rPr sz="1900" b="1" i="0">
                <a:solidFill>
                  <a:srgbClr val="FF8A80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  <a:r>
              <a:rPr sz="17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  →  </a:t>
            </a:r>
            <a:r>
              <a:rPr sz="20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  <a:r>
              <a:rPr sz="15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(同一修正也讓 Strong、Boss 全面提升)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13232"/>
            <a:ext cx="11064240" cy="777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成果:對三個對手全勝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71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測試設定:每步 2000ms、各 10 局、雙方輪流先手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511296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Weak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3511296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690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10 勝 0 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1560" y="4617720"/>
            <a:ext cx="2505456" cy="548640"/>
          </a:xfrm>
          <a:prstGeom prst="roundRect">
            <a:avLst>
              <a:gd name="adj" fmla="val 3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617720"/>
            <a:ext cx="2505456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修正前 </a:t>
            </a:r>
            <a:r>
              <a:rPr sz="1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40%</a:t>
            </a:r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→ 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920240"/>
            <a:ext cx="3511296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34256" y="22402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256" y="2788920"/>
            <a:ext cx="3511296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4256" y="40690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10 勝 0 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37176" y="4617720"/>
            <a:ext cx="2505456" cy="548640"/>
          </a:xfrm>
          <a:prstGeom prst="roundRect">
            <a:avLst>
              <a:gd name="adj" fmla="val 3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37176" y="4617720"/>
            <a:ext cx="2505456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修正前 </a:t>
            </a:r>
            <a:r>
              <a:rPr sz="1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90%</a:t>
            </a:r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→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2" y="1920240"/>
            <a:ext cx="3511296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E3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22402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900" b="1" i="0">
                <a:solidFill>
                  <a:srgbClr val="1E2761"/>
                </a:solidFill>
                <a:latin typeface="Microsoft JhengHei"/>
                <a:ea typeface="Microsoft JhengHei"/>
                <a:cs typeface="Microsoft JhengHei"/>
              </a:rPr>
              <a:t>vs Boss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19872" y="2788920"/>
            <a:ext cx="3511296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60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9872" y="4069080"/>
            <a:ext cx="3511296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500" b="1" i="0">
                <a:solidFill>
                  <a:srgbClr val="2E7D4F"/>
                </a:solidFill>
                <a:latin typeface="Microsoft JhengHei"/>
                <a:ea typeface="Microsoft JhengHei"/>
                <a:cs typeface="Microsoft JhengHei"/>
              </a:rPr>
              <a:t>10 勝 0 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22792" y="4617720"/>
            <a:ext cx="2505456" cy="548640"/>
          </a:xfrm>
          <a:prstGeom prst="roundRect">
            <a:avLst>
              <a:gd name="adj" fmla="val 30000"/>
            </a:avLst>
          </a:prstGeom>
          <a:solidFill>
            <a:srgbClr val="EE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22792" y="4617720"/>
            <a:ext cx="2505456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修正前 </a:t>
            </a:r>
            <a:r>
              <a:rPr sz="1400" b="1" i="0">
                <a:solidFill>
                  <a:srgbClr val="C0392B"/>
                </a:solidFill>
                <a:latin typeface="Microsoft JhengHei"/>
                <a:ea typeface="Microsoft JhengHei"/>
                <a:cs typeface="Microsoft JhengHei"/>
              </a:rPr>
              <a:t>70%</a:t>
            </a:r>
            <a:r>
              <a:rPr sz="13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 → 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66928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/>
            <a:r>
              <a:rPr sz="1400" b="0" i="0">
                <a:solidFill>
                  <a:srgbClr val="5B6577"/>
                </a:solidFill>
                <a:latin typeface="Microsoft JhengHei"/>
                <a:ea typeface="Microsoft JhengHei"/>
                <a:cs typeface="Microsoft JhengHei"/>
              </a:rPr>
              <a:t>關鍵修正(根節點存入 TT)讓三個對手皆達穩定全勝。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188720"/>
            <a:ext cx="10607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總結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28600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286000"/>
            <a:ext cx="987552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這是一個以 Negamax 為基礎、採用迭代加深的 PVS 引擎: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6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alpha-beta + PVS 為核心,搭配置換表與 MVV-LVA/殺手排序讓剪枝有效,</a:t>
            </a:r>
          </a:p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靜止搜尋避免戰術失誤,再以延伸/縮減/裁剪把深度花在關鍵處,餵給完整評估函數。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160520"/>
            <a:ext cx="3383280" cy="12801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370832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PVS 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28032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比 alpha-beta 更快收斂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4160520"/>
            <a:ext cx="3383280" cy="12801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4370832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置換表 + 排序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4828032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讓搜尋看得更深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6" y="4160520"/>
            <a:ext cx="3383280" cy="128016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4370832"/>
            <a:ext cx="29260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F2A900"/>
                </a:solidFill>
                <a:latin typeface="Microsoft JhengHei"/>
                <a:ea typeface="Microsoft JhengHei"/>
                <a:cs typeface="Microsoft JhengHei"/>
              </a:rPr>
              <a:t>根節點存 TT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4828032"/>
            <a:ext cx="29260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修掉限時敗著:40%→100%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515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600" b="1" i="0">
                <a:solidFill>
                  <a:srgbClr val="CADCFC"/>
                </a:solidFill>
                <a:latin typeface="Microsoft JhengHei"/>
                <a:ea typeface="Microsoft JhengHei"/>
                <a:cs typeface="Microsoft JhengHei"/>
              </a:rPr>
              <a:t>謝謝聆聽 · Weak / Strong / Boss 全數 10:0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